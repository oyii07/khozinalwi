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legraf Bold" charset="1" panose="00000800000000000000"/>
      <p:regular r:id="rId13"/>
    </p:embeddedFont>
    <p:embeddedFont>
      <p:font typeface="Telegraf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7862">
            <a:off x="6110388" y="5304279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970899" y="-2015424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4810" y="2677464"/>
            <a:ext cx="14238379" cy="430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42"/>
              </a:lnSpc>
              <a:spcBef>
                <a:spcPct val="0"/>
              </a:spcBef>
            </a:pPr>
            <a:r>
              <a:rPr lang="en-US" b="true" sz="9686" spc="639" u="non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MENGENAL GITHUB, OPEN-SOURCE DAN REPOSTORY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406934"/>
            <a:ext cx="255402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82723" y="8406934"/>
            <a:ext cx="392855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Khozin Alwi Mubarok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5712" y="8781584"/>
            <a:ext cx="984557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NIM 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82723" y="8781584"/>
            <a:ext cx="392855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1412260036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2105550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15160" y="-392510"/>
            <a:ext cx="7501837" cy="11072020"/>
            <a:chOff x="0" y="0"/>
            <a:chExt cx="19757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5298" y="2355403"/>
            <a:ext cx="7090494" cy="6416897"/>
          </a:xfrm>
          <a:custGeom>
            <a:avLst/>
            <a:gdLst/>
            <a:ahLst/>
            <a:cxnLst/>
            <a:rect r="r" b="b" t="t" l="l"/>
            <a:pathLst>
              <a:path h="6416897" w="7090494">
                <a:moveTo>
                  <a:pt x="0" y="0"/>
                </a:moveTo>
                <a:lnTo>
                  <a:pt x="7090494" y="0"/>
                </a:lnTo>
                <a:lnTo>
                  <a:pt x="7090494" y="6416897"/>
                </a:lnTo>
                <a:lnTo>
                  <a:pt x="0" y="641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33161">
            <a:off x="16054357" y="8442422"/>
            <a:ext cx="1977886" cy="1631756"/>
          </a:xfrm>
          <a:custGeom>
            <a:avLst/>
            <a:gdLst/>
            <a:ahLst/>
            <a:cxnLst/>
            <a:rect r="r" b="b" t="t" l="l"/>
            <a:pathLst>
              <a:path h="1631756" w="1977886">
                <a:moveTo>
                  <a:pt x="0" y="0"/>
                </a:moveTo>
                <a:lnTo>
                  <a:pt x="1977886" y="0"/>
                </a:lnTo>
                <a:lnTo>
                  <a:pt x="1977886" y="1631756"/>
                </a:lnTo>
                <a:lnTo>
                  <a:pt x="0" y="1631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2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13827" y="3924601"/>
            <a:ext cx="9329473" cy="235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8"/>
              </a:lnSpc>
              <a:spcBef>
                <a:spcPct val="0"/>
              </a:spcBef>
            </a:pPr>
            <a:r>
              <a:rPr lang="en-US" sz="2648" spc="13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GitHub adalah platform online untuk menyimpan, mengelola, dan berbagi kode program serta proyek digital. Anggap saja GitHub seperti Google Drive, tetapi lebih dikhususkan untuk kode pemrograman dan proyek 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08751" y="2448785"/>
            <a:ext cx="7879848" cy="85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b="true" sz="604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APA ITU GITHUB?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26734" y="-392510"/>
            <a:ext cx="7501837" cy="11072020"/>
            <a:chOff x="0" y="0"/>
            <a:chExt cx="1975792" cy="291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711658">
            <a:off x="-7562511" y="-2324816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2"/>
                </a:lnTo>
                <a:lnTo>
                  <a:pt x="0" y="670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27949">
            <a:off x="10559014" y="2174453"/>
            <a:ext cx="7514432" cy="6725417"/>
          </a:xfrm>
          <a:custGeom>
            <a:avLst/>
            <a:gdLst/>
            <a:ahLst/>
            <a:cxnLst/>
            <a:rect r="r" b="b" t="t" l="l"/>
            <a:pathLst>
              <a:path h="6725417" w="7514432">
                <a:moveTo>
                  <a:pt x="0" y="0"/>
                </a:moveTo>
                <a:lnTo>
                  <a:pt x="7514433" y="0"/>
                </a:lnTo>
                <a:lnTo>
                  <a:pt x="7514433" y="6725417"/>
                </a:lnTo>
                <a:lnTo>
                  <a:pt x="0" y="6725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49903">
            <a:off x="316470" y="67149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69338" y="2036856"/>
            <a:ext cx="7879848" cy="159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b="true" sz="604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APA ITU </a:t>
            </a:r>
          </a:p>
          <a:p>
            <a:pPr algn="ctr">
              <a:lnSpc>
                <a:spcPts val="5860"/>
              </a:lnSpc>
            </a:pPr>
            <a:r>
              <a:rPr lang="en-US" b="true" sz="604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OPEN-SOURCE?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0318" y="4489205"/>
            <a:ext cx="9329473" cy="20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6"/>
              </a:lnSpc>
              <a:spcBef>
                <a:spcPct val="0"/>
              </a:spcBef>
            </a:pPr>
            <a:r>
              <a:rPr lang="en-US" sz="2804" spc="14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Open source adalah software atau perangkat lunak yang kode sumbernya dibuka agar orang lain bisa mempelajari, menggunakan, memodifikasi, dan membagikannya sesuai ketentuan lisensinya.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1877560" y="-2175013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345055">
            <a:off x="10858790" y="2641221"/>
            <a:ext cx="7341802" cy="6570912"/>
          </a:xfrm>
          <a:custGeom>
            <a:avLst/>
            <a:gdLst/>
            <a:ahLst/>
            <a:cxnLst/>
            <a:rect r="r" b="b" t="t" l="l"/>
            <a:pathLst>
              <a:path h="6570912" w="7341802">
                <a:moveTo>
                  <a:pt x="0" y="0"/>
                </a:moveTo>
                <a:lnTo>
                  <a:pt x="7341801" y="0"/>
                </a:lnTo>
                <a:lnTo>
                  <a:pt x="7341801" y="6570913"/>
                </a:lnTo>
                <a:lnTo>
                  <a:pt x="0" y="6570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tretch>
            <a:fillRect/>
          </a:stretch>
        </p:blipFill>
        <p:spPr>
          <a:xfrm rot="0">
            <a:off x="-617220" y="6976190"/>
            <a:ext cx="5303241" cy="740664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54526" y="1849143"/>
            <a:ext cx="8657575" cy="159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b="true" sz="604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APA ITU REPOSTORY?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8577" y="4123619"/>
            <a:ext cx="9329473" cy="249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6"/>
              </a:lnSpc>
              <a:spcBef>
                <a:spcPct val="0"/>
              </a:spcBef>
            </a:pPr>
            <a:r>
              <a:rPr lang="en-US" sz="2804" spc="14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Repository adalah tempat untuk menyimpan semua file dan riwayat perubahan suatu proyek. Di GitHub, repository biasanya berisi kode program, gambar, dokumen, dan petunjuk penggunaan proyek.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9298" y="3059682"/>
            <a:ext cx="11277341" cy="2026706"/>
            <a:chOff x="0" y="0"/>
            <a:chExt cx="2970164" cy="533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70164" cy="533783"/>
            </a:xfrm>
            <a:custGeom>
              <a:avLst/>
              <a:gdLst/>
              <a:ahLst/>
              <a:cxnLst/>
              <a:rect r="r" b="b" t="t" l="l"/>
              <a:pathLst>
                <a:path h="533783" w="2970164">
                  <a:moveTo>
                    <a:pt x="24028" y="0"/>
                  </a:moveTo>
                  <a:lnTo>
                    <a:pt x="2946136" y="0"/>
                  </a:lnTo>
                  <a:cubicBezTo>
                    <a:pt x="2959406" y="0"/>
                    <a:pt x="2970164" y="10758"/>
                    <a:pt x="2970164" y="24028"/>
                  </a:cubicBezTo>
                  <a:lnTo>
                    <a:pt x="2970164" y="509755"/>
                  </a:lnTo>
                  <a:cubicBezTo>
                    <a:pt x="2970164" y="516127"/>
                    <a:pt x="2967632" y="522239"/>
                    <a:pt x="2963126" y="526745"/>
                  </a:cubicBezTo>
                  <a:cubicBezTo>
                    <a:pt x="2958620" y="531251"/>
                    <a:pt x="2952509" y="533783"/>
                    <a:pt x="2946136" y="533783"/>
                  </a:cubicBezTo>
                  <a:lnTo>
                    <a:pt x="24028" y="533783"/>
                  </a:lnTo>
                  <a:cubicBezTo>
                    <a:pt x="17655" y="533783"/>
                    <a:pt x="11544" y="531251"/>
                    <a:pt x="7038" y="526745"/>
                  </a:cubicBezTo>
                  <a:cubicBezTo>
                    <a:pt x="2531" y="522239"/>
                    <a:pt x="0" y="516127"/>
                    <a:pt x="0" y="509755"/>
                  </a:cubicBezTo>
                  <a:lnTo>
                    <a:pt x="0" y="24028"/>
                  </a:lnTo>
                  <a:cubicBezTo>
                    <a:pt x="0" y="17655"/>
                    <a:pt x="2531" y="11544"/>
                    <a:pt x="7038" y="7038"/>
                  </a:cubicBezTo>
                  <a:cubicBezTo>
                    <a:pt x="11544" y="2531"/>
                    <a:pt x="17655" y="0"/>
                    <a:pt x="2402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70164" cy="581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25008">
            <a:off x="-1877560" y="-2175013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44220" y="7593410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039975" y="-750509"/>
            <a:ext cx="4725939" cy="11072020"/>
            <a:chOff x="0" y="0"/>
            <a:chExt cx="1244692" cy="29160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4692" cy="2916088"/>
            </a:xfrm>
            <a:custGeom>
              <a:avLst/>
              <a:gdLst/>
              <a:ahLst/>
              <a:cxnLst/>
              <a:rect r="r" b="b" t="t" l="l"/>
              <a:pathLst>
                <a:path h="2916088" w="1244692">
                  <a:moveTo>
                    <a:pt x="0" y="0"/>
                  </a:moveTo>
                  <a:lnTo>
                    <a:pt x="1244692" y="0"/>
                  </a:lnTo>
                  <a:lnTo>
                    <a:pt x="124469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46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479430">
            <a:off x="-324485" y="3614382"/>
            <a:ext cx="5774476" cy="5716731"/>
          </a:xfrm>
          <a:custGeom>
            <a:avLst/>
            <a:gdLst/>
            <a:ahLst/>
            <a:cxnLst/>
            <a:rect r="r" b="b" t="t" l="l"/>
            <a:pathLst>
              <a:path h="5716731" w="5774476">
                <a:moveTo>
                  <a:pt x="0" y="0"/>
                </a:moveTo>
                <a:lnTo>
                  <a:pt x="5774476" y="0"/>
                </a:lnTo>
                <a:lnTo>
                  <a:pt x="5774476" y="5716731"/>
                </a:lnTo>
                <a:lnTo>
                  <a:pt x="0" y="5716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70370" y="1275728"/>
            <a:ext cx="9740157" cy="134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6"/>
              </a:lnSpc>
            </a:pPr>
            <a:r>
              <a:rPr lang="en-US" b="true" sz="5098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BAGAIMANA KOLABORASI BISA TERJADI?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66953" y="3531067"/>
            <a:ext cx="10382031" cy="97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1"/>
              </a:lnSpc>
              <a:spcBef>
                <a:spcPct val="0"/>
              </a:spcBef>
            </a:pPr>
            <a:r>
              <a:rPr lang="en-US" sz="2708" spc="13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K</a:t>
            </a:r>
            <a:r>
              <a:rPr lang="en-US" sz="2708" spc="13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olaborasi di GitHub terjadi ketika beberapa orang bekerja sama mengerjakan satu proyek melalui repository.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19298" y="5515504"/>
            <a:ext cx="11277341" cy="3909163"/>
            <a:chOff x="0" y="0"/>
            <a:chExt cx="2970164" cy="10295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70164" cy="1029574"/>
            </a:xfrm>
            <a:custGeom>
              <a:avLst/>
              <a:gdLst/>
              <a:ahLst/>
              <a:cxnLst/>
              <a:rect r="r" b="b" t="t" l="l"/>
              <a:pathLst>
                <a:path h="1029574" w="2970164">
                  <a:moveTo>
                    <a:pt x="24028" y="0"/>
                  </a:moveTo>
                  <a:lnTo>
                    <a:pt x="2946136" y="0"/>
                  </a:lnTo>
                  <a:cubicBezTo>
                    <a:pt x="2959406" y="0"/>
                    <a:pt x="2970164" y="10758"/>
                    <a:pt x="2970164" y="24028"/>
                  </a:cubicBezTo>
                  <a:lnTo>
                    <a:pt x="2970164" y="1005546"/>
                  </a:lnTo>
                  <a:cubicBezTo>
                    <a:pt x="2970164" y="1011919"/>
                    <a:pt x="2967632" y="1018030"/>
                    <a:pt x="2963126" y="1022536"/>
                  </a:cubicBezTo>
                  <a:cubicBezTo>
                    <a:pt x="2958620" y="1027042"/>
                    <a:pt x="2952509" y="1029574"/>
                    <a:pt x="2946136" y="1029574"/>
                  </a:cubicBezTo>
                  <a:lnTo>
                    <a:pt x="24028" y="1029574"/>
                  </a:lnTo>
                  <a:cubicBezTo>
                    <a:pt x="17655" y="1029574"/>
                    <a:pt x="11544" y="1027042"/>
                    <a:pt x="7038" y="1022536"/>
                  </a:cubicBezTo>
                  <a:cubicBezTo>
                    <a:pt x="2531" y="1018030"/>
                    <a:pt x="0" y="1011919"/>
                    <a:pt x="0" y="1005546"/>
                  </a:cubicBezTo>
                  <a:lnTo>
                    <a:pt x="0" y="24028"/>
                  </a:lnTo>
                  <a:cubicBezTo>
                    <a:pt x="0" y="17655"/>
                    <a:pt x="2531" y="11544"/>
                    <a:pt x="7038" y="7038"/>
                  </a:cubicBezTo>
                  <a:cubicBezTo>
                    <a:pt x="11544" y="2531"/>
                    <a:pt x="17655" y="0"/>
                    <a:pt x="2402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970164" cy="107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113225" y="5716526"/>
            <a:ext cx="10983414" cy="344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Tahapan k</a:t>
            </a: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olaborasi:</a:t>
            </a:r>
          </a:p>
          <a:p>
            <a:pPr algn="l" marL="469464" indent="-234732" lvl="1">
              <a:lnSpc>
                <a:spcPts val="3044"/>
              </a:lnSpc>
              <a:buAutoNum type="arabicPeriod" startAt="1"/>
            </a:pP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Membuat Repository – Tempat menyimpan file proyek.</a:t>
            </a:r>
          </a:p>
          <a:p>
            <a:pPr algn="l" marL="469464" indent="-234732" lvl="1">
              <a:lnSpc>
                <a:spcPts val="3044"/>
              </a:lnSpc>
              <a:buAutoNum type="arabicPeriod" startAt="1"/>
            </a:pP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Mengundang</a:t>
            </a: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Anggota – Memberikan akses kepada anggota tim.</a:t>
            </a:r>
          </a:p>
          <a:p>
            <a:pPr algn="l" marL="469464" indent="-234732" lvl="1">
              <a:lnSpc>
                <a:spcPts val="3044"/>
              </a:lnSpc>
              <a:buAutoNum type="arabicPeriod" startAt="1"/>
            </a:pP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Mengerjakan Tugas – Setiap anggota mengerjakan bagian masing-masing.</a:t>
            </a:r>
          </a:p>
          <a:p>
            <a:pPr algn="l" marL="469464" indent="-234732" lvl="1">
              <a:lnSpc>
                <a:spcPts val="3044"/>
              </a:lnSpc>
              <a:buAutoNum type="arabicPeriod" startAt="1"/>
            </a:pP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Mengirim Perubahan – Anggota mengunggah hasil pekerjaannya ke GitHub.</a:t>
            </a:r>
          </a:p>
          <a:p>
            <a:pPr algn="l" marL="469464" indent="-234732" lvl="1">
              <a:lnSpc>
                <a:spcPts val="3044"/>
              </a:lnSpc>
              <a:spcBef>
                <a:spcPct val="0"/>
              </a:spcBef>
              <a:buAutoNum type="arabicPeriod" startAt="1"/>
            </a:pP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174" spc="10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Menggabungkan Perubahan – Hasil pekerjaan diperiksa dan digabungkan ke proyek utama.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6610">
            <a:off x="-3194934" y="-3487275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39518" y="0"/>
            <a:ext cx="4725939" cy="11072020"/>
            <a:chOff x="0" y="0"/>
            <a:chExt cx="12446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4692" cy="2916088"/>
            </a:xfrm>
            <a:custGeom>
              <a:avLst/>
              <a:gdLst/>
              <a:ahLst/>
              <a:cxnLst/>
              <a:rect r="r" b="b" t="t" l="l"/>
              <a:pathLst>
                <a:path h="2916088" w="1244692">
                  <a:moveTo>
                    <a:pt x="0" y="0"/>
                  </a:moveTo>
                  <a:lnTo>
                    <a:pt x="1244692" y="0"/>
                  </a:lnTo>
                  <a:lnTo>
                    <a:pt x="124469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446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079515" y="3141243"/>
            <a:ext cx="6000203" cy="6741801"/>
          </a:xfrm>
          <a:custGeom>
            <a:avLst/>
            <a:gdLst/>
            <a:ahLst/>
            <a:cxnLst/>
            <a:rect r="r" b="b" t="t" l="l"/>
            <a:pathLst>
              <a:path h="6741801" w="6000203">
                <a:moveTo>
                  <a:pt x="0" y="0"/>
                </a:moveTo>
                <a:lnTo>
                  <a:pt x="6000202" y="0"/>
                </a:lnTo>
                <a:lnTo>
                  <a:pt x="6000202" y="6741801"/>
                </a:lnTo>
                <a:lnTo>
                  <a:pt x="0" y="6741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023" y="1281585"/>
            <a:ext cx="8969380" cy="108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</a:pPr>
            <a:r>
              <a:rPr lang="en-US" b="true" sz="407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BEDAH REPOSTORY</a:t>
            </a:r>
          </a:p>
          <a:p>
            <a:pPr algn="ctr">
              <a:lnSpc>
                <a:spcPts val="3956"/>
              </a:lnSpc>
            </a:pPr>
            <a:r>
              <a:rPr lang="en-US" b="true" sz="407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ONLINE E-COMMERCE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2309" y="4192563"/>
            <a:ext cx="10529918" cy="456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3"/>
              </a:lnSpc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Fitur utama:</a:t>
            </a:r>
          </a:p>
          <a:p>
            <a:pPr algn="l" marL="506403" indent="-253201" lvl="1">
              <a:lnSpc>
                <a:spcPts val="3283"/>
              </a:lnSpc>
              <a:buAutoNum type="arabicPeriod" startAt="1"/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Katalog produk-Menampilkan daftar produk, harga, dan informasi barang</a:t>
            </a:r>
          </a:p>
          <a:p>
            <a:pPr algn="l" marL="506403" indent="-253201" lvl="1">
              <a:lnSpc>
                <a:spcPts val="3283"/>
              </a:lnSpc>
              <a:buAutoNum type="arabicPeriod" startAt="1"/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Pencarian produk-Membantu pelanggan menemukan barang yang dibutuhkan. </a:t>
            </a:r>
          </a:p>
          <a:p>
            <a:pPr algn="l" marL="506403" indent="-253201" lvl="1">
              <a:lnSpc>
                <a:spcPts val="3283"/>
              </a:lnSpc>
              <a:buAutoNum type="arabicPeriod" startAt="1"/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Keranjang belanja-Menyimpan produk yang dipilih sebelum checkout. </a:t>
            </a:r>
          </a:p>
          <a:p>
            <a:pPr algn="l" marL="506403" indent="-253201" lvl="1">
              <a:lnSpc>
                <a:spcPts val="3283"/>
              </a:lnSpc>
              <a:buAutoNum type="arabicPeriod" startAt="1"/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Pemesanan dan checkout Mencatat barang yang akan dibeli dan informasi pesanan. </a:t>
            </a:r>
          </a:p>
          <a:p>
            <a:pPr algn="l" marL="506403" indent="-253201" lvl="1">
              <a:lnSpc>
                <a:spcPts val="3283"/>
              </a:lnSpc>
              <a:spcBef>
                <a:spcPct val="0"/>
              </a:spcBef>
              <a:buAutoNum type="arabicPeriod" startAt="1"/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Manajemen admin Mengelola produk, stok, pesanan, dan data penjualan jika tersedia.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309" y="2621726"/>
            <a:ext cx="10529918" cy="125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3"/>
              </a:lnSpc>
              <a:spcBef>
                <a:spcPct val="0"/>
              </a:spcBef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Online E-Commerce System adalah sistem jual beli berbasis website yang memungkinkan pelanggan melihat produk, memilih barang, membuat pesanan, dan melakukan pembayaran secara online.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309" y="9182100"/>
            <a:ext cx="9819970" cy="4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3"/>
              </a:lnSpc>
              <a:spcBef>
                <a:spcPct val="0"/>
              </a:spcBef>
            </a:pPr>
            <a:r>
              <a:rPr lang="en-US" sz="2345" spc="1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Repostory: https://github.com/Shivamverma2001/E-Commerce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1725160" y="-2022613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6610">
            <a:off x="12691742" y="5555978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15532" y="3769192"/>
            <a:ext cx="7201283" cy="6121090"/>
          </a:xfrm>
          <a:custGeom>
            <a:avLst/>
            <a:gdLst/>
            <a:ahLst/>
            <a:cxnLst/>
            <a:rect r="r" b="b" t="t" l="l"/>
            <a:pathLst>
              <a:path h="6121090" w="7201283">
                <a:moveTo>
                  <a:pt x="7201283" y="0"/>
                </a:moveTo>
                <a:lnTo>
                  <a:pt x="0" y="0"/>
                </a:lnTo>
                <a:lnTo>
                  <a:pt x="0" y="6121090"/>
                </a:lnTo>
                <a:lnTo>
                  <a:pt x="7201283" y="6121090"/>
                </a:lnTo>
                <a:lnTo>
                  <a:pt x="720128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93214" y="3028602"/>
            <a:ext cx="8890781" cy="325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8"/>
              </a:lnSpc>
            </a:pPr>
            <a:r>
              <a:rPr lang="en-US" b="true" sz="845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SEKIAN </a:t>
            </a:r>
          </a:p>
          <a:p>
            <a:pPr algn="ctr">
              <a:lnSpc>
                <a:spcPts val="8198"/>
              </a:lnSpc>
            </a:pPr>
            <a:r>
              <a:rPr lang="en-US" b="true" sz="845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&amp; </a:t>
            </a:r>
          </a:p>
          <a:p>
            <a:pPr algn="ctr">
              <a:lnSpc>
                <a:spcPts val="8198"/>
              </a:lnSpc>
            </a:pPr>
            <a:r>
              <a:rPr lang="en-US" b="true" sz="845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DAHX_nya2nE</dc:identifier>
  <dcterms:modified xsi:type="dcterms:W3CDTF">2011-08-01T06:04:30Z</dcterms:modified>
  <cp:revision>1</cp:revision>
  <dc:title>Konsep AI_Oyii</dc:title>
</cp:coreProperties>
</file>